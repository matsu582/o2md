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売上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利益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45</c:v>
                </c:pt>
                <c:pt idx="2">
                  <c:v>35</c:v>
                </c:pt>
                <c:pt idx="3">
                  <c:v>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このプレゼンテーションは、PowerPoint機能強化の動作確認用です。</a:t>
            </a:r>
          </a:p>
          <a:p>
            <a:r>
              <a:t>各スライドで異なる機能をテストします。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このスライドでは文字の書式設定をテストします。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このスライドではシェイプの処理をテストします。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このスライドでは座標による読み順制御をテストします。</a:t>
            </a:r>
          </a:p>
          <a:p>
            <a:r>
              <a:t>出力では1→2→3→4の順序で表示されるべきです。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このスライドではチャートデータの抽出をテストします。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このスライドではテーブルの変換をテストします。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PowerPoint機能強化テスト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6つの新機能の動作確認用ファイル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文字の書式設定テスト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太字テスト: </a:t>
            </a:r>
            <a:r>
              <a:rPr b="1" sz="1800"/>
              <a:t>これは太字です</a:t>
            </a:r>
          </a:p>
          <a:p>
            <a:r>
              <a:rPr sz="1800"/>
              <a:t>斜体テスト: </a:t>
            </a:r>
            <a:r>
              <a:rPr i="1" sz="1800"/>
              <a:t>これは斜体です</a:t>
            </a:r>
          </a:p>
          <a:p>
            <a:r>
              <a:rPr sz="1800"/>
              <a:t>下線テスト: </a:t>
            </a:r>
            <a:r>
              <a:rPr u="sng" sz="1800"/>
              <a:t>これは下線付きです</a:t>
            </a:r>
          </a:p>
          <a:p>
            <a:r>
              <a:rPr sz="1800"/>
              <a:t>複合書式: </a:t>
            </a:r>
            <a:r>
              <a:rPr b="1" i="1" sz="1800"/>
              <a:t>太字かつ斜体</a:t>
            </a:r>
          </a:p>
          <a:p>
            <a:r>
              <a:rPr sz="1800"/>
              <a:t>上付き文字: X</a:t>
            </a:r>
            <a:r>
              <a:rPr sz="1800" a:baseline="30000"/>
              <a:t>2</a:t>
            </a:r>
            <a:r>
              <a:rPr sz="1800"/>
              <a:t> + Y</a:t>
            </a:r>
            <a:r>
              <a:rPr sz="1800" a:baseline="30000"/>
              <a:t>2</a:t>
            </a:r>
          </a:p>
          <a:p>
            <a:r>
              <a:rPr sz="1800"/>
              <a:t>下付き文字: H</a:t>
            </a:r>
            <a:r>
              <a:rPr sz="1800" a:baseline="-25000"/>
              <a:t>2</a:t>
            </a:r>
            <a:r>
              <a:rPr sz="1800"/>
              <a:t>O, CO</a:t>
            </a:r>
            <a:r>
              <a:rPr sz="1800" a:baseline="-25000"/>
              <a:t>2</a:t>
            </a:r>
          </a:p>
          <a:p>
            <a:r>
              <a:rPr sz="1800"/>
              <a:t>取り消し線: </a:t>
            </a:r>
            <a:r>
              <a:rPr sz="1800">
                <a:strike val="sngStrike"/>
              </a:rPr>
              <a:t>これは取り消し線付きです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シェイプテスト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ボックス1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1828800" cy="91440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ボックス2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1554480"/>
            <a:ext cx="548640" cy="548640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座標による読み順テスト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4. 右下のテキスト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左上のテキスト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2. 右上のテキスト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3. 左下のテキスト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チャートデータ抽出テスト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テーブルテスト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85800">
                <a:tc>
                  <a:txBody>
                    <a:bodyPr/>
                    <a:lstStyle/>
                    <a:p>
                      <a:r>
                        <a:t>製品名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価格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在庫数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製品A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製品B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製品C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